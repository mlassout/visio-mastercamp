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1593581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7830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E293B"/>
                </a:solidFill>
                <a:latin typeface="Arial"/>
              </a:rPr>
              <a:t>BinSight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278892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F6B4F"/>
                </a:solidFill>
                <a:latin typeface="Arial"/>
              </a:rPr>
              <a:t>Surveillance intelligente de l'état des poubelles publiques pour la prévention des dépôts sauvages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3611880"/>
            <a:ext cx="1005840" cy="27432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16352" y="3886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B878D"/>
                </a:solidFill>
                <a:latin typeface="Arial"/>
              </a:rPr>
              <a:t>Projet Wild Dump Prevention  —  démarche AI for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Équipe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Arial"/>
              </a:rPr>
              <a:t>[PLACEHOLDER : noms de l'équipe]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Cours / Date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Arial"/>
              </a:rPr>
              <a:t>EFREI · MasterCamp Data 2026     —     [PLACEHOLDER : date de soutenance]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539496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137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Efrei-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650992"/>
            <a:ext cx="1645920" cy="823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01  ·  CONTEXTE &amp;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Les dépôts sauvages naissent des poubelles qui débordent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Pas de suivi en temps réel de l'état des poubelles publiques.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Une poubelle pleine non détectée → accumulation dans l'espace public.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Réaction tardive des services ; tournées de collecte difficiles à planifier.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Le préventif se limite souvent à la sensibilisation.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Objectif AI for Good : anticiper le risque plutôt que le constater.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8308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DU DÉBORDEMENT AU DÉPÔT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468880"/>
            <a:ext cx="3154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468880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Arial"/>
              </a:rPr>
              <a:t>Poubelle pleine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3639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F6B4F"/>
                </a:solidFill>
                <a:latin typeface="Arial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639312"/>
            <a:ext cx="3154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639312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Arial"/>
              </a:rPr>
              <a:t>Débordement non traité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306824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07B22"/>
                </a:solidFill>
                <a:latin typeface="Arial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809744"/>
            <a:ext cx="3154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809744"/>
            <a:ext cx="2834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Arial"/>
              </a:rPr>
              <a:t>Dépôt sauvage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02  ·  OBJECTIFS &amp;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Une plateforme web de détection de l'état des poubelles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Collecter des images (upload citoyen / agent).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Extraire des caractéristiques visuelles simples.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Classer : propre (vide) / sale (pleine).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500" b="0" i="0">
                <a:solidFill>
                  <a:srgbClr val="1E293B"/>
                </a:solidFill>
                <a:latin typeface="Arial"/>
              </a:rPr>
              <a:t>Annoter, visualiser, cartographier les zones à risque.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83080"/>
            <a:ext cx="2011680" cy="402336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2011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Arial"/>
              </a:rPr>
              <a:t>Niveau 1 — Must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74320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Plateforme, features de base, règles codées en dur, stats matplotlib.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51663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5166360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F6B4F"/>
                </a:solidFill>
                <a:latin typeface="Arial"/>
              </a:rPr>
              <a:t>Atteint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783080"/>
            <a:ext cx="2011680" cy="402336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011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Arial"/>
              </a:rPr>
              <a:t>Niveau 2 — Should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4320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UX d'annotation, features avancées, règles configurables,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1663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5166360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F6B4F"/>
                </a:solidFill>
                <a:latin typeface="Arial"/>
              </a:rPr>
              <a:t>Atteint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783080"/>
            <a:ext cx="2011680" cy="402336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2011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Arial"/>
              </a:rPr>
              <a:t>Niveau 3 — Could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274320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Temps réel / AJAX, indicateurs externes, optimisation, multilingue.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19" y="516636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F6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19" y="5166360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7B22"/>
                </a:solidFill>
                <a:latin typeface="Arial"/>
              </a:rPr>
              <a:t>Partiel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03  · 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CDCM — Clean / Dirty Containers, Montevideo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2F6B4F"/>
                </a:solidFill>
                <a:latin typeface="Arial"/>
              </a:rPr>
              <a:t>Narratif : entraîner sur Montevideo, valider localement.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20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1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images étiquetées (propres / sales)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560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81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images non étiquetées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146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81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images de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5146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081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caractéristiques par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Total publié CDCM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5212080" cy="64008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total d'images publié du dataset CDCM]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DÉFIS &amp; RÉPONSES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250" b="0" i="0">
                <a:solidFill>
                  <a:srgbClr val="1E293B"/>
                </a:solidFill>
                <a:latin typeface="Arial"/>
              </a:rPr>
              <a:t>Variance de taille / résolution → mise à l'échelle des caractéristiques.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250" b="0" i="0">
                <a:solidFill>
                  <a:srgbClr val="1E293B"/>
                </a:solidFill>
                <a:latin typeface="Arial"/>
              </a:rPr>
              <a:t>Jeu étiqueté restreint → auto-apprentissage semi-supervisé sur le non-étiqueté.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04  ·  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Une chaîne de traitement de bout en bout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903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2055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Acquisition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(upload)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1943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F6B4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9415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567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Annotation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(propre / sale)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2455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F6B4F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9927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3079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Stockage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(SQLite)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967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F6B4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0439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Extraction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(Pillow / OpenCV)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3479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F6B4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0951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4103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Entraînement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(scikit-learn)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3991" y="2862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F6B4F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81463" y="2468880"/>
            <a:ext cx="1481328" cy="12344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4615" y="2670048"/>
            <a:ext cx="1335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Arial"/>
              </a:rPr>
              <a:t>Classification</a:t>
            </a:r>
          </a:p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(règles + ML)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903" y="4206240"/>
            <a:ext cx="10533888" cy="868680"/>
          </a:xfrm>
          <a:prstGeom prst="roundRect">
            <a:avLst>
              <a:gd name="adj" fmla="val 6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3223" y="4206240"/>
            <a:ext cx="99852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85C43"/>
                </a:solidFill>
                <a:latin typeface="Arial"/>
              </a:rPr>
              <a:t>Boucle d'amélioration : chaque annotation enrichit le jeu étiqueté et permet de ré-entraîner le modèle.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05  ·  CARACTÉRISTIQUES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16 caractéristiques interprétables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0253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Couleur moyenne R/G/B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3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luminosité et teinte globales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0253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Écart-type des couleurs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3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hétérogénéité de la scène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98648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266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Statistiques HSV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couleurs vives des déchets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98648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266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Contraste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variations d'intensité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22776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5079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Densité de contours (Canny)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25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le « désordre » / l'encombrement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22776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5079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Contours haut / 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25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déchets qui débordent par le haut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46904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74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Variance du Laplacien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4982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texture et niveau de détail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946904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Colorfulness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4982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richesse colorimétrique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06  ·  APPROCHE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Deux pistes complémentaires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B4F"/>
                </a:solidFill>
                <a:latin typeface="Arial"/>
              </a:rPr>
              <a:t>Baseline classique  —  implémentée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Régression logistique sur 16 features + StandardScaler.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Sélection du modèle par validation croisée (5 plis).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Auto-apprentissage : 40 → 206 échantillons (166 pseudo-étiquettes ≥ 90 %).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Interprétable, exécution CPU, rapide.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7B22"/>
                </a:solidFill>
                <a:latin typeface="Arial"/>
              </a:rPr>
              <a:t>MobileNetV2  —  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Caractéristiques apprises directement depuis les pixels.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Vise la précision de la référence publiée.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Entraînement GPU, modèle léger.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1663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6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7B22"/>
                </a:solidFill>
                <a:latin typeface="Arial"/>
              </a:rPr>
              <a:t>Statut : prévu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B878D"/>
                </a:solidFill>
                <a:latin typeface="Arial"/>
              </a:rPr>
              <a:t>Pourquoi les deux : interprétabilité (classique) et précision (CNN).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07  · 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Performance du classifieur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70 %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8308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5000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Précision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178308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35000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Rappel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Arial"/>
              </a:rPr>
              <a:t>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5000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B878D"/>
                </a:solidFill>
                <a:latin typeface="Arial"/>
              </a:rPr>
              <a:t>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B878D"/>
                </a:solidFill>
                <a:latin typeface="Arial"/>
              </a:rPr>
              <a:t>Validation croisée 5 plis (jeu étiqueté) : 0.70 ± 0.06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COMPARAISON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4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Arial"/>
              </a:rPr>
              <a:t>Classique (logreg)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97764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2F6B4F"/>
                </a:solidFill>
                <a:latin typeface="Arial"/>
              </a:rPr>
              <a:t>70 % (CV)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36008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36008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Arial"/>
              </a:rPr>
              <a:t>MobileNetV2 (CNN)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636008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B07B22"/>
                </a:solidFill>
                <a:latin typeface="Arial"/>
              </a:rPr>
              <a:t>[à entraîner]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94376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94376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Arial"/>
              </a:rPr>
              <a:t>Référence publiée CDCM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294376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7B878D"/>
                </a:solidFill>
                <a:latin typeface="Arial"/>
              </a:rPr>
              <a:t>~95 %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B878D"/>
                </a:solidFill>
                <a:latin typeface="Arial"/>
              </a:rPr>
              <a:t>Petit jeu étiqueté → plafond du classique ; le CNN vise la référence.</a:t>
            </a:r>
          </a:p>
        </p:txBody>
      </p:sp>
      <p:pic>
        <p:nvPicPr>
          <p:cNvPr id="27" name="Picture 26" descr="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2743200" cy="1959429"/>
          </a:xfrm>
          <a:prstGeom prst="rect">
            <a:avLst/>
          </a:prstGeom>
        </p:spPr>
      </p:pic>
      <p:pic>
        <p:nvPicPr>
          <p:cNvPr id="28" name="Picture 27" descr="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965960"/>
            <a:ext cx="2743200" cy="1485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89320" y="4343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Matrice de confusion (hors plis)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343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7B878D"/>
                </a:solidFill>
                <a:latin typeface="Arial"/>
              </a:rPr>
              <a:t>Comparaison des modèles (CV)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800600"/>
            <a:ext cx="5532120" cy="96012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800600"/>
            <a:ext cx="5257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référence ~95 % : citation de l'article CDCM]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08  ·  EXPLICABILITÉ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Un modèle qui se justifie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3891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B878D"/>
                </a:solidFill>
                <a:latin typeface="Arial"/>
              </a:rPr>
              <a:t>Importance des caractéristiques (coefficients standardisés)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8308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Modèle linéaire intrinsèquement interprétable ; Grad-CAM prévu pour le CNN.</a:t>
            </a:r>
          </a:p>
        </p:txBody>
      </p:sp>
      <p:pic>
        <p:nvPicPr>
          <p:cNvPr id="10" name="Picture 9" descr="ex_cle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468880"/>
            <a:ext cx="2651760" cy="2651760"/>
          </a:xfrm>
          <a:prstGeom prst="rect">
            <a:avLst/>
          </a:prstGeom>
        </p:spPr>
      </p:pic>
      <p:pic>
        <p:nvPicPr>
          <p:cNvPr id="11" name="Picture 10" descr="ex_dirt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468880"/>
            <a:ext cx="2651760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51389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F6B4F"/>
                </a:solidFill>
                <a:latin typeface="Arial"/>
              </a:rPr>
              <a:t>Exemple propre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1389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07B22"/>
                </a:solidFill>
                <a:latin typeface="Arial"/>
              </a:rPr>
              <a:t>Exemple sale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548640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5486400"/>
            <a:ext cx="5303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superpositions Grad-CAM (propre / sale)]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09  ·  LA PLATEFORME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Quatre vues, une boucle d'amélioration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3832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capture : Dashboard]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3832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capture : Upload &amp; annotation]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33832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capture : Carte (EFREI Villejuif)]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79476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BFBFB"/>
          </a:solidFill>
          <a:ln w="12700">
            <a:solidFill>
              <a:srgbClr val="94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794760"/>
            <a:ext cx="33832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B878D"/>
                </a:solidFill>
                <a:latin typeface="Arial"/>
              </a:rPr>
              <a:t>[PLACEHOLDER : capture : Modèle]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828800"/>
            <a:ext cx="3063240" cy="365760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0574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0A6"/>
                </a:solidFill>
                <a:latin typeface="Arial"/>
              </a:rPr>
              <a:t>BOUCLE D'ANNOTATION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56032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56032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Annoter une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08152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F6B4F"/>
                </a:solidFill>
                <a:latin typeface="Arial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493008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4930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Enrichit le jeu étiqueté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014215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F6B4F"/>
                </a:solidFill>
                <a:latin typeface="Arial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4425696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42569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Ré-entraîner le modèle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10  ·  CHOIX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Des choix simples et défendables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27080" cy="118872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6B4F"/>
                </a:solidFill>
                <a:latin typeface="Arial"/>
              </a:rPr>
              <a:t>Flask  (pas Django)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Arial"/>
              </a:rPr>
              <a:t>Micro-framework léger, adapté à une application focalisée ; moins de surcharge à maintenir.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927080" cy="118872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6B4F"/>
                </a:solidFill>
                <a:latin typeface="Arial"/>
              </a:rPr>
              <a:t>SQLite  (pas PostgreSQL)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Arial"/>
              </a:rPr>
              <a:t>Zéro configuration, un seul fichier, largement suffisant pour le volume du projet.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927080" cy="118872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6B4F"/>
                </a:solidFill>
                <a:latin typeface="Arial"/>
              </a:rPr>
              <a:t>Rendu serveur matplotlib  (peu de 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4632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Arial"/>
              </a:rPr>
              <a:t>Pages simples, reproductibles et sobres ; graphiques générés côté serveur en 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11  ·  GREEN IT / ÉCO-CONCEPTION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Sobriété par conception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0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ML classique sur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pas de GPU énergivore pour la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20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MobileNetV2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architecture légère si passage au CNN.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63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empreinte minimale, pas de serveur dédié.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63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Peu de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pages légères, moins de transfert réseau.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06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Compression des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091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mise à l'échelle avant stockage et traitement.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06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Rendu serveur sobre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pas de bibliothèques lourdes côté client.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F6B4F"/>
                </a:solidFill>
                <a:latin typeface="Arial"/>
              </a:rPr>
              <a:t>Choix alignés au référentiel RGESN d'éco-conception de services numériques.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12  ·  ÉVALUATION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Risques &amp; mitigations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Risque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Arial"/>
              </a:rPr>
              <a:t>Jeu étiqueté restreint (40 images)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317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Auto-apprentissage, boucle d'annotation, collecte de données.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Arial"/>
              </a:rPr>
              <a:t>Biais du modèle (Montevideo ≠ local)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461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3756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Validation locale, ré-entraînement, suivi des métriques.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51959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Arial"/>
              </a:rPr>
              <a:t>Vie privée (images de rue)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605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59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Cadrage sur la poubelle, pas de visages / plaques, stockage local.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59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Arial"/>
              </a:rPr>
              <a:t>Qualité des données (tailles variables)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0749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59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B878D"/>
                </a:solidFill>
                <a:latin typeface="Arial"/>
              </a:rPr>
              <a:t>Normalisation des features, contrôles de format à l'upload.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6B4F"/>
                </a:solidFill>
                <a:latin typeface="Arial"/>
              </a:rPr>
              <a:t>13  ·  LIMITES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E293B"/>
                </a:solidFill>
                <a:latin typeface="Arial"/>
              </a:rPr>
              <a:t>Ce qui reste à faire</a:t>
            </a:r>
          </a:p>
        </p:txBody>
      </p:sp>
      <p:pic>
        <p:nvPicPr>
          <p:cNvPr id="4" name="Picture 3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84048"/>
            <a:ext cx="331465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0A6"/>
                </a:solidFill>
                <a:latin typeface="Arial"/>
              </a:rPr>
              <a:t>BinSight  ·  Wild Dump Prevention  —  EFREI MasterCamp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4A0A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6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Précision limitée du classique sur un petit jeu → entraîner MobileNetV2.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6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Alertes temps réel en cas de débordement → notifications aux services.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6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Davantage de données locales annotées pour la validation.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600" b="1" i="0">
                <a:solidFill>
                  <a:srgbClr val="2F6B4F"/>
                </a:solidFill>
                <a:latin typeface="Arial"/>
              </a:rPr>
              <a:t>▪  </a:t>
            </a:r>
            <a:r>
              <a:rPr sz="1600" b="0" i="0">
                <a:solidFill>
                  <a:srgbClr val="1E293B"/>
                </a:solidFill>
                <a:latin typeface="Arial"/>
              </a:rPr>
              <a:t>Géolocalisation automatique des photos (EXIF) pour la carte.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ns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1211122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9718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E293B"/>
                </a:solidFill>
                <a:latin typeface="Arial"/>
              </a:rPr>
              <a:t>Merci  — 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7B878D"/>
                </a:solidFill>
                <a:latin typeface="Arial"/>
              </a:rPr>
              <a:t>Livré : plateforme web complète — upload, annotation, règles configurables, dashboard, carte.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7B878D"/>
                </a:solidFill>
                <a:latin typeface="Arial"/>
              </a:rPr>
              <a:t>Pipeline features + ML semi-supervisé, explicabilité, Green IT &amp; risques. Niveaux 1–2 atteints, niveau 3 partiel.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128" y="5074920"/>
            <a:ext cx="1005840" cy="27432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F6B4F"/>
                </a:solidFill>
                <a:latin typeface="Arial"/>
              </a:rPr>
              <a:t>BinSight · EFREI MasterCamp Data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